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ECF1F7"/>
                </a:solidFill>
                <a:latin typeface="Apple SD Gothic Neo"/>
              </a:rPr>
              <a:t>Proof of Track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8B9AAF"/>
                </a:solidFill>
                <a:latin typeface="Apple SD Gothic Neo"/>
              </a:rPr>
              <a:t>거래를 공개하지 않고 증명하는 트랙 레코드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EE0B0"/>
                </a:solidFill>
                <a:latin typeface="Apple SD Gothic Neo"/>
              </a:rPr>
              <a:t>거래 전에 전략을 커밋한다. 거래 후에 결과를 증명한다. 둘 다 고칠 수 없다.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8B9AAF"/>
                </a:solidFill>
                <a:latin typeface="Apple SD Gothic Neo"/>
              </a:rPr>
              <a:t>Midnight Korea Hackathon 2026 · 서동옥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AAF"/>
                </a:solidFill>
                <a:latin typeface="Apple SD Gothic Neo"/>
              </a:rPr>
              <a:t>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ECF1F7"/>
                </a:solidFill>
                <a:latin typeface="Apple SD Gothic Neo"/>
              </a:rPr>
              <a:t>숫자가 전부 진짜인데도</a:t>
            </a:r>
          </a:p>
          <a:p>
            <a:pPr algn="l">
              <a:lnSpc>
                <a:spcPct val="125000"/>
              </a:lnSpc>
            </a:pPr>
            <a:r>
              <a:rPr sz="3800" b="1">
                <a:solidFill>
                  <a:srgbClr val="ECF1F7"/>
                </a:solidFill>
                <a:latin typeface="Apple SD Gothic Neo"/>
              </a:rPr>
              <a:t>거짓말이 될 수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E8B45C"/>
                </a:solidFill>
                <a:latin typeface="Apple SD Gothic Neo"/>
              </a:rPr>
              <a:t>"전략 열 개를 1년 돌렸습니다. 이게 그중 제일 잘 된 겁니다."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8B9AAF"/>
                </a:solidFill>
                <a:latin typeface="Apple SD Gothic Neo"/>
              </a:rPr>
              <a:t>거래도, 체결도, 수익률도 전부 진짜다.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8B9AAF"/>
                </a:solidFill>
                <a:latin typeface="Apple SD Gothic Neo"/>
              </a:rPr>
              <a:t>그런데 다음에 어떻게 될지는 아무것도 말해주지 않는다.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8B9AAF"/>
                </a:solidFill>
                <a:latin typeface="Apple SD Gothic Neo"/>
              </a:rPr>
              <a:t>고르는 게 먼저였고, 고른 흔적은 남지 않는다.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AAF"/>
                </a:solidFill>
                <a:latin typeface="Apple SD Gothic Neo"/>
              </a:rPr>
              <a:t>내 백테스트 — S&amp;P 500, 2018-11 ~ 2023-09</a:t>
            </a:r>
          </a:p>
        </p:txBody>
      </p:sp>
      <p:pic>
        <p:nvPicPr>
          <p:cNvPr id="4" name="Picture 3" descr="back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24" y="868680"/>
            <a:ext cx="10658246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394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E8B45C"/>
                </a:solidFill>
                <a:latin typeface="Apple SD Gothic Neo"/>
              </a:rPr>
              <a:t>생존 편향 하나 걷어내니 연 9.15%p 가 사라졌다.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8B9AAF"/>
                </a:solidFill>
                <a:latin typeface="Apple SD Gothic Neo"/>
              </a:rPr>
              <a:t>조작은 없었다. 다시 돌릴 수 있었을 뿐이고, 그건 흔적을 남기지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AAF"/>
                </a:solidFill>
                <a:latin typeface="Apple SD Gothic Neo"/>
              </a:rPr>
              <a:t>수치로 보면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CF1F7"/>
                </a:solidFill>
                <a:latin typeface="Apple SD Gothic Neo"/>
              </a:rPr>
              <a:t>알파는 처음부터 없었다</a:t>
            </a:r>
          </a:p>
        </p:txBody>
      </p:sp>
      <p:pic>
        <p:nvPicPr>
          <p:cNvPr id="5" name="Picture 4" descr="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54480"/>
            <a:ext cx="11384280" cy="421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064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B9AAF"/>
                </a:solidFill>
                <a:latin typeface="Apple SD Gothic Neo"/>
              </a:rPr>
              <a:t>출처: 내 백테스트 (Algorithmic_Trading_YL). 시점별 S&amp;P 500 구성종목을 복원해 재측정.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B9AAF"/>
                </a:solidFill>
                <a:latin typeface="Apple SD Gothic Neo"/>
              </a:rPr>
              <a:t>2018-11 ~ 2023-09, 60개월.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AAF"/>
                </a:solidFill>
                <a:latin typeface="Apple SD Gothic Neo"/>
              </a:rPr>
              <a:t>나만의 일이 아니다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ECF1F7"/>
                </a:solidFill>
                <a:latin typeface="Apple SD Gothic Neo"/>
              </a:rPr>
              <a:t>같은 보정, 같은 결과</a:t>
            </a:r>
          </a:p>
        </p:txBody>
      </p:sp>
      <p:pic>
        <p:nvPicPr>
          <p:cNvPr id="5" name="Picture 4" descr="indu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95" y="1508760"/>
            <a:ext cx="10204704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064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E8B45C"/>
                </a:solidFill>
                <a:latin typeface="Apple SD Gothic Neo"/>
              </a:rPr>
              <a:t>내 39% 는 특이값이 아니다. 업계 평균이다.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AAF"/>
                </a:solidFill>
                <a:latin typeface="Apple SD Gothic Neo"/>
              </a:rPr>
              <a:t>Malkiel &amp; Saha (TASS 3,500개 펀드) · McLean &amp; Pontiff, Journal of Finance 2016 (예측변수 97개)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AAF"/>
                </a:solidFill>
                <a:latin typeface="Apple SD Gothic Neo"/>
              </a:rPr>
              <a:t>왜 반복되나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ECF1F7"/>
                </a:solidFill>
                <a:latin typeface="Apple SD Gothic Neo"/>
              </a:rPr>
              <a:t>개인의 문제가 아니라</a:t>
            </a:r>
          </a:p>
          <a:p>
            <a:pPr algn="l">
              <a:lnSpc>
                <a:spcPct val="125000"/>
              </a:lnSpc>
            </a:pPr>
            <a:r>
              <a:rPr sz="3400" b="1">
                <a:solidFill>
                  <a:srgbClr val="ECF1F7"/>
                </a:solidFill>
                <a:latin typeface="Apple SD Gothic Neo"/>
              </a:rPr>
              <a:t>구조의 문제다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5EE0B0"/>
                </a:solidFill>
                <a:latin typeface="Apple SD Gothic Neo"/>
              </a:rPr>
              <a:t>실패는 사라진다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8B9AAF"/>
                </a:solidFill>
                <a:latin typeface="Apple SD Gothic Neo"/>
              </a:rPr>
              <a:t>망한 펀드는 DB 에서 빠지고, 안 된 전략은 발표되지 않는다.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5EE0B0"/>
                </a:solidFill>
                <a:latin typeface="Apple SD Gothic Neo"/>
              </a:rPr>
              <a:t>시도 횟수는 기록되지 않는다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8B9AAF"/>
                </a:solidFill>
                <a:latin typeface="Apple SD Gothic Neo"/>
              </a:rPr>
              <a:t>팩터 316개. 그래서 Harvey·Liu·Zhu 는 t 기준을 3.0 으로 올리자고 했다.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8B9AAF"/>
                </a:solidFill>
                <a:latin typeface="Apple SD Gothic Neo"/>
              </a:rPr>
              <a:t>몇 번 시도했는지 모르면 유의성을 계산할 수 없다.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5EE0B0"/>
                </a:solidFill>
                <a:latin typeface="Apple SD Gothic Neo"/>
              </a:rPr>
              <a:t>흔적이 남지 않는다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8B9AAF"/>
                </a:solidFill>
                <a:latin typeface="Apple SD Gothic Neo"/>
              </a:rPr>
              <a:t>최종 숫자만 보면 첫 시도인지 열 번째인지 모른다.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AAF"/>
                </a:solidFill>
                <a:latin typeface="Apple SD Gothic Neo"/>
              </a:rPr>
              <a:t>해법 — 흔적을 남기게 만든다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ECF1F7"/>
                </a:solidFill>
                <a:latin typeface="Apple SD Gothic Neo"/>
              </a:rPr>
              <a:t>결과를 알기 전에 전략을 커밋한다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>
                <a:solidFill>
                  <a:srgbClr val="ECF1F7"/>
                </a:solidFill>
                <a:latin typeface="Apple SD Gothic Neo"/>
              </a:rPr>
              <a:t>성과가 그 전략에서 나왔음을 영지식으로 증명한다.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5EE0B0"/>
                </a:solidFill>
                <a:latin typeface="Apple SD Gothic Neo"/>
              </a:rPr>
              <a:t>왜 영지식인가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10332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8B9AAF"/>
                </a:solidFill>
                <a:latin typeface="Apple SD Gothic Neo"/>
              </a:rPr>
              <a:t>커밋만 하려면 해시 하나면 충분하다. 그런데 전략은 공개할 수 없다.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8B9AAF"/>
                </a:solidFill>
                <a:latin typeface="Apple SD Gothic Neo"/>
              </a:rPr>
              <a:t>공개하는 순간 알파는 사라진다.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8B9AAF"/>
                </a:solidFill>
                <a:latin typeface="Apple SD Gothic Neo"/>
              </a:rPr>
              <a:t>그래서 숨긴 채 커밋하고, 열지 않은 채 증명해야 한다.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8B9AAF"/>
                </a:solidFill>
                <a:latin typeface="Apple SD Gothic Neo"/>
              </a:rPr>
              <a:t>영지식이 아니면 검증자에게 전략과 거래를 전부 보여줘야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1500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5EE0B0"/>
                </a:solidFill>
                <a:latin typeface="Apple SD Gothic Neo"/>
              </a:rPr>
              <a:t>거래 전  —  전략의 해시만 원장에 올린다</a:t>
            </a: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5EE0B0"/>
                </a:solidFill>
                <a:latin typeface="Apple SD Gothic Neo"/>
              </a:rPr>
              <a:t>거래 후  —  "수익률이 X 이상" 이라는 사실만 원장에 올린다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AAF"/>
                </a:solidFill>
                <a:latin typeface="Apple SD Gothic Neo"/>
              </a:rPr>
              <a:t>회로 7개, 각각 하나의 공격을 막는다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ECF1F7"/>
                </a:solidFill>
                <a:latin typeface="Apple SD Gothic Neo"/>
              </a:rPr>
              <a:t>무엇을 막는가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731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8B9AAF"/>
                </a:solidFill>
                <a:latin typeface="Apple SD Gothic Ne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05740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CF1F7"/>
                </a:solidFill>
                <a:latin typeface="Apple SD Gothic Neo"/>
              </a:rPr>
              <a:t>전략을 나중에 바꾸기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10312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B9AAF"/>
                </a:solidFill>
                <a:latin typeface="Apple SD Gothic Neo"/>
              </a:rPr>
              <a:t>전략 해시를 거래 전에 커밋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24328"/>
            <a:ext cx="731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8B9AAF"/>
                </a:solidFill>
                <a:latin typeface="Apple SD Gothic Neo"/>
              </a:rPr>
              <a:t>2-3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624328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CF1F7"/>
                </a:solidFill>
                <a:latin typeface="Apple SD Gothic Neo"/>
              </a:rPr>
              <a:t>없는 수익률 주장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670048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B9AAF"/>
                </a:solidFill>
                <a:latin typeface="Apple SD Gothic Neo"/>
              </a:rPr>
              <a:t>수익률이 커밋된 거래 로그에서 나왔음을 증명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91256"/>
            <a:ext cx="731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8B9AAF"/>
                </a:solidFill>
                <a:latin typeface="Apple SD Gothic Neo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191256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CF1F7"/>
                </a:solidFill>
                <a:latin typeface="Apple SD Gothic Neo"/>
              </a:rPr>
              <a:t>리스크 관리 과장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236976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B9AAF"/>
                </a:solidFill>
                <a:latin typeface="Apple SD Gothic Neo"/>
              </a:rPr>
              <a:t>포지션 한도가 지켜졌음을 증명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58184"/>
            <a:ext cx="731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8B9AAF"/>
                </a:solidFill>
                <a:latin typeface="Apple SD Gothic Neo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758184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5EE0B0"/>
                </a:solidFill>
                <a:latin typeface="Apple SD Gothic Neo"/>
              </a:rPr>
              <a:t>손실 거래를 빼고 계산하기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803904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B9AAF"/>
                </a:solidFill>
                <a:latin typeface="Apple SD Gothic Neo"/>
              </a:rPr>
              <a:t>수익률이 커밋된 계좌 잔고와 맞음을 증명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25112"/>
            <a:ext cx="731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8B9AAF"/>
                </a:solidFill>
                <a:latin typeface="Apple SD Gothic Neo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325112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5EE0B0"/>
                </a:solidFill>
                <a:latin typeface="Apple SD Gothic Neo"/>
              </a:rPr>
              <a:t>시행 횟수를 숨기기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437083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B9AAF"/>
                </a:solidFill>
                <a:latin typeface="Apple SD Gothic Neo"/>
              </a:rPr>
              <a:t>시도한 전략 수가 공개된다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731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8B9AAF"/>
                </a:solidFill>
                <a:latin typeface="Apple SD Gothic Neo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89204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CF1F7"/>
                </a:solidFill>
                <a:latin typeface="Apple SD Gothic Neo"/>
              </a:rPr>
              <a:t>NAV 자체를 지어내기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493776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B9AAF"/>
                </a:solidFill>
                <a:latin typeface="Apple SD Gothic Neo"/>
              </a:rPr>
              <a:t>잔고를 제3자가 증언한다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6928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8B9AAF"/>
                </a:solidFill>
                <a:latin typeface="Apple SD Gothic Neo"/>
              </a:rPr>
              <a:t>5번과 6번이 차별점이다. Obscura, Proof of Alpha 는 과거 성과를 인증한다.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8B9AAF"/>
                </a:solidFill>
                <a:latin typeface="Apple SD Gothic Neo"/>
              </a:rPr>
              <a:t>몇 번 시도했는지는 다루지 않는다.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AAF"/>
                </a:solidFill>
                <a:latin typeface="Apple SD Gothic Neo"/>
              </a:rPr>
              <a:t>회로 5 — 손실을 빼고 계산할 수 없다</a:t>
            </a:r>
          </a:p>
        </p:txBody>
      </p:sp>
      <p:pic>
        <p:nvPicPr>
          <p:cNvPr id="4" name="Picture 3" descr="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11384280" cy="45904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5EE0B0"/>
                </a:solidFill>
                <a:latin typeface="Apple SD Gothic Neo"/>
              </a:rPr>
              <a:t>부풀린 주장 3건은 거부된다. 실제 성과 그대로인 주장 1건만 통과한다.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AAF"/>
                </a:solidFill>
                <a:latin typeface="Apple SD Gothic Neo"/>
              </a:rPr>
              <a:t>회로 5 실행 결과</a:t>
            </a:r>
          </a:p>
        </p:txBody>
      </p:sp>
      <p:pic>
        <p:nvPicPr>
          <p:cNvPr id="4" name="Picture 3" descr="cap-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865" y="777240"/>
            <a:ext cx="9161964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5EE0B0"/>
                </a:solidFill>
                <a:latin typeface="Apple SD Gothic Neo"/>
              </a:rPr>
              <a:t>거부 3, 통과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AAF"/>
                </a:solidFill>
                <a:latin typeface="Apple SD Gothic Neo"/>
              </a:rPr>
              <a:t>구조 — 왼쪽은 체인에 닿지 않는다</a:t>
            </a:r>
          </a:p>
        </p:txBody>
      </p:sp>
      <p:pic>
        <p:nvPicPr>
          <p:cNvPr id="4" name="Picture 3" descr="architecture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271" y="731520"/>
            <a:ext cx="921715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AAF"/>
                </a:solidFill>
                <a:latin typeface="Apple SD Gothic Neo"/>
              </a:rPr>
              <a:t>Midnight 을 어떻게 썼는가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ECF1F7"/>
                </a:solidFill>
                <a:latin typeface="Apple SD Gothic Neo"/>
              </a:rPr>
              <a:t>프라이버시를</a:t>
            </a:r>
          </a:p>
          <a:p>
            <a:pPr algn="l">
              <a:lnSpc>
                <a:spcPct val="125000"/>
              </a:lnSpc>
            </a:pPr>
            <a:r>
              <a:rPr sz="3400" b="1">
                <a:solidFill>
                  <a:srgbClr val="ECF1F7"/>
                </a:solidFill>
                <a:latin typeface="Apple SD Gothic Neo"/>
              </a:rPr>
              <a:t>타입 검사가 강제한다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B9AAF"/>
                </a:solidFill>
                <a:latin typeface="Apple SD Gothic Neo"/>
              </a:rPr>
              <a:t>disclose() 하나를 빼면 컴파일이 멈춘다</a:t>
            </a:r>
          </a:p>
        </p:txBody>
      </p:sp>
      <p:pic>
        <p:nvPicPr>
          <p:cNvPr id="6" name="Picture 5" descr="cap-dis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71800"/>
            <a:ext cx="9692640" cy="25200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EE0B0"/>
                </a:solidFill>
                <a:latin typeface="Apple SD Gothic Neo"/>
              </a:rPr>
              <a:t>파일, 줄, 프로그램 경로까지 짚어 준다.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7220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B9AAF"/>
                </a:solidFill>
                <a:latin typeface="Apple SD Gothic Neo"/>
              </a:rPr>
              <a:t>개발 중 두 건이 이렇게 잡혔다. 하나는 checkRoot — 어느 루트를 증명하는지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B9AAF"/>
                </a:solidFill>
                <a:latin typeface="Apple SD Gothic Neo"/>
              </a:rPr>
              <a:t>드러난다는 지적. 사람이면 놓쳤을 채널이다.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AAF"/>
                </a:solidFill>
                <a:latin typeface="Apple SD Gothic Neo"/>
              </a:rPr>
              <a:t>실제로 동작한다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CF1F7"/>
                </a:solidFill>
                <a:latin typeface="Apple SD Gothic Neo"/>
              </a:rPr>
              <a:t>Midnight Preview 공개 테스트넷</a:t>
            </a:r>
          </a:p>
        </p:txBody>
      </p:sp>
      <p:pic>
        <p:nvPicPr>
          <p:cNvPr id="5" name="Picture 4" descr="on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167" y="1463040"/>
            <a:ext cx="1011936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5EE0B0"/>
                </a:solidFill>
                <a:latin typeface="Apple SD Gothic Neo"/>
              </a:rPr>
              <a:t>원장에는 커밋만 있다. NAV 값은 체인에 가지 않는다.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663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B9AAF"/>
                </a:solidFill>
                <a:latin typeface="Apple SD Gothic Neo"/>
              </a:rPr>
              <a:t>증언된 값은 실제 바이낸스 선물 계좌 잔고다. Primus 공증인이 거래소 TLS 세션에서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8B9AAF"/>
                </a:solidFill>
                <a:latin typeface="Apple SD Gothic Neo"/>
              </a:rPr>
              <a:t>직접 읽었다. 자기 신고가 아니다.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AAF"/>
                </a:solidFill>
                <a:latin typeface="Apple SD Gothic Neo"/>
              </a:rPr>
              <a:t>못 하는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ECF1F7"/>
                </a:solidFill>
                <a:latin typeface="Apple SD Gothic Neo"/>
              </a:rPr>
              <a:t>신뢰 가정은 사라지지 않았다.</a:t>
            </a:r>
          </a:p>
          <a:p>
            <a:pPr algn="l">
              <a:lnSpc>
                <a:spcPct val="125000"/>
              </a:lnSpc>
            </a:pPr>
            <a:r>
              <a:rPr sz="3400" b="1">
                <a:solidFill>
                  <a:srgbClr val="ECF1F7"/>
                </a:solidFill>
                <a:latin typeface="Apple SD Gothic Neo"/>
              </a:rPr>
              <a:t>옮겼을 뿐이다.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E8B45C"/>
                </a:solidFill>
                <a:latin typeface="Apple SD Gothic Neo"/>
              </a:rPr>
              <a:t>공증인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8B9AAF"/>
                </a:solidFill>
                <a:latin typeface="Apple SD Gothic Neo"/>
              </a:rPr>
              <a:t>트레이더를 믿는 대신 Primus 공증인 그룹과 TLS 를 믿는다.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8B9AAF"/>
                </a:solidFill>
                <a:latin typeface="Apple SD Gothic Neo"/>
              </a:rPr>
              <a:t>분산돼 있어 낫지만, 가정은 가정이다.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E8B45C"/>
                </a:solidFill>
                <a:latin typeface="Apple SD Gothic Neo"/>
              </a:rPr>
              <a:t>시빌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32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8B9AAF"/>
                </a:solidFill>
                <a:latin typeface="Apple SD Gothic Neo"/>
              </a:rPr>
              <a:t>계정 식별자를 거래소 uid 에 묶었다. 신원 하나를 만드는 비용이 0 에서 KYC 한 번이 됐다.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8B9AAF"/>
                </a:solidFill>
                <a:latin typeface="Apple SD Gothic Neo"/>
              </a:rPr>
              <a:t>시빌 저항을 만든 게 아니라 거래소 것을 빌렸다.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8B9AAF"/>
                </a:solidFill>
                <a:latin typeface="Apple SD Gothic Neo"/>
              </a:rPr>
              <a:t>거래소가 다르면 신원은 다시 늘어난다.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AAF"/>
                </a:solidFill>
                <a:latin typeface="Apple SD Gothic Neo"/>
              </a:rPr>
              <a:t>심사자가 직접 확인할 수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CF1F7"/>
                </a:solidFill>
                <a:latin typeface="Apple SD Gothic Neo"/>
              </a:rPr>
              <a:t>계정 없이, 1초 안에</a:t>
            </a:r>
          </a:p>
        </p:txBody>
      </p:sp>
      <p:pic>
        <p:nvPicPr>
          <p:cNvPr id="5" name="Picture 4" descr="cap-ver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11064240" cy="33453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5EE0B0"/>
                </a:solidFill>
                <a:latin typeface="Apple SD Gothic Neo"/>
              </a:rPr>
              <a:t>실제 zkTLS 증언의 서명을 오프라인에서 확인한다. 한 글자만 바꿔도 거부된다.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B9AAF"/>
                </a:solidFill>
                <a:latin typeface="Apple SD Gothic Neo"/>
              </a:rPr>
              <a:t>직접 확인해 보세요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ECF1F7"/>
                </a:solidFill>
                <a:latin typeface="Apple SD Gothic Neo"/>
              </a:rPr>
              <a:t>계정도 설치도 필요 없습니다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5EE0B0"/>
                </a:solidFill>
                <a:latin typeface="Apple SD Gothic Neo"/>
              </a:rPr>
              <a:t>테스트 28개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B9AAF"/>
                </a:solidFill>
                <a:latin typeface="Apple SD Gothic Neo"/>
              </a:rPr>
              <a:t>회로가 거부해야 하는 13가지가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8B9AAF"/>
                </a:solidFill>
                <a:latin typeface="Apple SD Gothic Neo"/>
              </a:rPr>
              <a:t>단언으로 고정돼 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3774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5EE0B0"/>
                </a:solidFill>
                <a:latin typeface="Apple SD Gothic Neo"/>
              </a:rPr>
              <a:t>회로 5 시연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8346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B9AAF"/>
                </a:solidFill>
                <a:latin typeface="Apple SD Gothic Neo"/>
              </a:rPr>
              <a:t>부풀린 주장 3건 거부,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8B9AAF"/>
                </a:solidFill>
                <a:latin typeface="Apple SD Gothic Neo"/>
              </a:rPr>
              <a:t>실제 성과 1건 통과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3774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5EE0B0"/>
                </a:solidFill>
                <a:latin typeface="Apple SD Gothic Neo"/>
              </a:rPr>
              <a:t>증언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8346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B9AAF"/>
                </a:solidFill>
                <a:latin typeface="Apple SD Gothic Neo"/>
              </a:rPr>
              <a:t>저장소에 든 실제 zkTLS 증언을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8B9AAF"/>
                </a:solidFill>
                <a:latin typeface="Apple SD Gothic Neo"/>
              </a:rPr>
              <a:t>오프라인에서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8B9AAF"/>
                </a:solidFill>
                <a:latin typeface="Apple SD Gothic Neo"/>
              </a:rPr>
              <a:t>셋 다 1초 안에 끝난다. 실행 방법은 README 에 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5EE0B0"/>
                </a:solidFill>
                <a:latin typeface="Apple SD Gothic Neo"/>
              </a:rPr>
              <a:t>github.com/SeoDongOk/proof-of-track-record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